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4413" y="1447556"/>
            <a:ext cx="5000625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Церковный раскол</a:t>
            </a: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
</a:t>
            </a: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XVII века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1014413" y="2898029"/>
            <a:ext cx="5715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500" spc="1" kern="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Патриарх Никон и протопоп Аввакум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14413" y="4100513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900" b="1" spc="5" kern="0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ИСТОРИЯ РОССИИ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672388" y="946153"/>
            <a:ext cx="7143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778"/>
              </a:lnSpc>
              <a:buNone/>
            </a:pPr>
            <a:r>
              <a:rPr lang="en-US" sz="900" b="1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Русская</a:t>
            </a:r>
            <a:r>
              <a:rPr lang="en-US" sz="900" b="1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
</a:t>
            </a:r>
            <a:r>
              <a:rPr lang="en-US" sz="900" b="1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Церковь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58113" y="4100513"/>
            <a:ext cx="5429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900" b="1" spc="4" kern="0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1653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1785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Оглавление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8140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857500" y="914400"/>
            <a:ext cx="2253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97107" y="885825"/>
            <a:ext cx="22321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Предпосылки и причины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97107" y="1157288"/>
            <a:ext cx="22321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Унификация обрядов и исправление книг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857500" y="1757363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1728788"/>
            <a:ext cx="21645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Суть нововведений 1653 г.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2000250"/>
            <a:ext cx="21645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Двоеперстие против троеперстия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857500" y="2428875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2400300"/>
            <a:ext cx="18502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Патриарх Никон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2671763"/>
            <a:ext cx="18502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Роль и методы внедрения реформ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72125" y="914400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15025" y="885825"/>
            <a:ext cx="1793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Протопоп Аввакум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15025" y="1157288"/>
            <a:ext cx="17930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Лидер духовного сопротивления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572125" y="1585913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15025" y="1557338"/>
            <a:ext cx="17930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Последствия раскола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15025" y="1828800"/>
            <a:ext cx="17930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Гонения и культурное влияние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572125" y="2257425"/>
            <a:ext cx="22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15025" y="2228850"/>
            <a:ext cx="22109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Исторические памятники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15025" y="2500313"/>
            <a:ext cx="22109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Воскресенский монастырь, Пустозерск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32861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Предпосылки и причины реформ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1971675"/>
            <a:ext cx="32861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середине XVII века в русской церкви возникла острая потребность в унификации богослужебных книг и обрядов. Многочисленные ошибки, накопившиеся за века переписывания, мешали духовному единству.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85825" y="3143250"/>
            <a:ext cx="32861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95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Царь Алексей Михайлович и патриарх Никон стремились объединить все православные церкви, поэтому за образец были взяты современные им греческие стандарты, а не древнерусские.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429125" y="528638"/>
            <a:ext cx="4114800" cy="4086225"/>
          </a:xfrm>
          <a:prstGeom prst="rect">
            <a:avLst/>
          </a:prstGeom>
          <a:solidFill>
            <a:srgbClr val="0F3230"/>
          </a:solidFill>
          <a:ln/>
        </p:spPr>
      </p:sp>
      <p:sp>
        <p:nvSpPr>
          <p:cNvPr id="7" name="Text 4"/>
          <p:cNvSpPr/>
          <p:nvPr/>
        </p:nvSpPr>
        <p:spPr>
          <a:xfrm>
            <a:off x="4772025" y="121443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114925" y="1228725"/>
            <a:ext cx="13680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F7F2E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Ошибки в книгах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14925" y="1528763"/>
            <a:ext cx="308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3D4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рукописных богослужебных книгах за столетия накопились разночтения и описки.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72025" y="215741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114925" y="2171700"/>
            <a:ext cx="15251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F7F2E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Различия в обрядах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14925" y="2471738"/>
            <a:ext cx="308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3D4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Отсутствие единообразия в совершении церковных таинств в разных регионах страны.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72025" y="31003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Apple Color Emoji" pitchFamily="34" charset="0"/>
                <a:ea typeface="Apple Color Emoji" pitchFamily="34" charset="-122"/>
                <a:cs typeface="Apple Color Emoji" pitchFamily="34" charset="-120"/>
              </a:rPr>
              <a:t>3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114925" y="3114675"/>
            <a:ext cx="17216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F7F2E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Политический аспект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14925" y="3414713"/>
            <a:ext cx="3086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3D4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Стремление Москвы стать центром мирового православия («Третьим Римом») требовало единства с остальными православными церквами.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2428875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Суть нововведений 1653 г.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2271713"/>
            <a:ext cx="242887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Реформы Никона, начатые весной 1653 года, коренным образом изменили многовековые устои русской религиозной жизни, что вызвало массовое неприятие в народе.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714750" y="885825"/>
            <a:ext cx="1971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14750" y="1285875"/>
            <a:ext cx="1971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Троеперстие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14750" y="1543050"/>
            <a:ext cx="19716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Замена традиционного русского двоеперстного крестного знамения на греческое троеперстие. Это стало самым заметным символом реформ.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29325" y="885825"/>
            <a:ext cx="1971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29325" y="1285875"/>
            <a:ext cx="1971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Написание имени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29325" y="1543050"/>
            <a:ext cx="19716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Изменение написания имени Спасителя: вместо старого «Исус» было введено греческое «Иисус».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714750" y="2593181"/>
            <a:ext cx="1971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14750" y="2993231"/>
            <a:ext cx="1971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Крестный ход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14750" y="3250406"/>
            <a:ext cx="1971675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Изменение направления крестного хода во время служб: теперь он должен был совершаться не «посолонь» (по солнцу), а против солнца.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29325" y="2593181"/>
            <a:ext cx="19716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BA8A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29325" y="2993231"/>
            <a:ext cx="1971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Поклоны и «Аллилуйя»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29325" y="3250406"/>
            <a:ext cx="19716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Замена земных поклонов поясными и троекратное произнесение «Аллилуйя» во время богослужений вместо прежнего двукратного.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24288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Патриарх Никон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1914525"/>
            <a:ext cx="24288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Шестой московский патриарх (1652-1666), инициатор масштабных церковных реформ. Имел огромное влияние на молодого царя Алексея Михайловича, но лишился сана из-за властолюбия.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714750" y="8858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6" name="Text 3"/>
          <p:cNvSpPr/>
          <p:nvPr/>
        </p:nvSpPr>
        <p:spPr>
          <a:xfrm>
            <a:off x="4045148" y="1228725"/>
            <a:ext cx="1821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714750" y="20288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Никита Минов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14750" y="22431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Мирское имя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714750" y="2471738"/>
            <a:ext cx="2028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Выходец из крестьянской семьи, благодаря выдающимся способностям стал настоятелем Новоспасского монастыря.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72175" y="8858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11" name="Text 8"/>
          <p:cNvSpPr/>
          <p:nvPr/>
        </p:nvSpPr>
        <p:spPr>
          <a:xfrm>
            <a:off x="6311503" y="1228725"/>
            <a:ext cx="1643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72175" y="20288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Кружок ревнителей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72175" y="22431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Благочестия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72175" y="2471738"/>
            <a:ext cx="2028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Изначально входил в один кружок с будущими противниками реформ, выступая за духовное обновление России.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714750" y="3443288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16" name="Text 13"/>
          <p:cNvSpPr/>
          <p:nvPr/>
        </p:nvSpPr>
        <p:spPr>
          <a:xfrm>
            <a:off x="4059436" y="3786188"/>
            <a:ext cx="1535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714750" y="4586288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Властолюбие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14750" y="4800600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Симфония властей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714750" y="5029200"/>
            <a:ext cx="20288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Провозглашал принцип «священство выше царства», что в итоге привело к разрыву отношений с царем Алексеем.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72175" y="3443288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21" name="Text 18"/>
          <p:cNvSpPr/>
          <p:nvPr/>
        </p:nvSpPr>
        <p:spPr>
          <a:xfrm>
            <a:off x="6302573" y="3786188"/>
            <a:ext cx="1821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972175" y="4586288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Низложение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72175" y="4800600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Собор 1666 года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972175" y="5029200"/>
            <a:ext cx="20288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Осужден Большим Московским собором, лишен патриаршего сана и отправлен в ссылку как простой монах.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24288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Протопоп Аввакум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1914525"/>
            <a:ext cx="242887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Священник (1620-1682), лидер старообрядцев и непримиримый противник реформ Никона. Один из самых ярких русских писателей XVII века.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714750" y="8858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6" name="Text 3"/>
          <p:cNvSpPr/>
          <p:nvPr/>
        </p:nvSpPr>
        <p:spPr>
          <a:xfrm>
            <a:off x="4045148" y="1228725"/>
            <a:ext cx="1821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714750" y="20288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Противостояние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14750" y="22431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Начало конфликта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714750" y="2471738"/>
            <a:ext cx="20288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1653 году резко выступил против введения троеперстия и новых богослужебных книг, считая их ересью.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972175" y="8858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11" name="Text 8"/>
          <p:cNvSpPr/>
          <p:nvPr/>
        </p:nvSpPr>
        <p:spPr>
          <a:xfrm>
            <a:off x="6302573" y="1228725"/>
            <a:ext cx="18216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72175" y="20288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Писатель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72175" y="22431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«Житие»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72175" y="2471738"/>
            <a:ext cx="20288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Написал первую в русской литературе автобиографию — «Житие протопопа Аввакума, им самим написанное».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714750" y="32861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16" name="Text 13"/>
          <p:cNvSpPr/>
          <p:nvPr/>
        </p:nvSpPr>
        <p:spPr>
          <a:xfrm>
            <a:off x="4055864" y="3629025"/>
            <a:ext cx="1607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714750" y="44291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Ссылки и тюрьмы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14750" y="46434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Пустозерск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714750" y="4872038"/>
            <a:ext cx="20288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Провел многие годы в жестоких ссылках, последние 14 лет жизни сидел в земляной тюрьме в Пустозерске.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72175" y="3286125"/>
            <a:ext cx="842963" cy="1028700"/>
          </a:xfrm>
          <a:prstGeom prst="rect">
            <a:avLst/>
          </a:prstGeom>
          <a:solidFill>
            <a:srgbClr val="B3D4D2"/>
          </a:solidFill>
          <a:ln/>
        </p:spPr>
      </p:sp>
      <p:sp>
        <p:nvSpPr>
          <p:cNvPr id="21" name="Text 18"/>
          <p:cNvSpPr/>
          <p:nvPr/>
        </p:nvSpPr>
        <p:spPr>
          <a:xfrm>
            <a:off x="6311503" y="3629025"/>
            <a:ext cx="1643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4424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972175" y="4429125"/>
            <a:ext cx="20288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Казнь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72175" y="4643438"/>
            <a:ext cx="2028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1682 год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972175" y="4872038"/>
            <a:ext cx="20288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80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 «великие на царский дом хулы» был сожжен заживо в срубе вместе со своими ближайшими сподвижниками.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1028700"/>
            <a:ext cx="73723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Последствия церковного раскола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885825" y="1714500"/>
            <a:ext cx="3571875" cy="1857375"/>
          </a:xfrm>
          <a:prstGeom prst="rect">
            <a:avLst/>
          </a:prstGeom>
          <a:solidFill>
            <a:srgbClr val="0F3230"/>
          </a:solidFill>
          <a:ln/>
        </p:spPr>
      </p:sp>
      <p:sp>
        <p:nvSpPr>
          <p:cNvPr id="5" name="Text 2"/>
          <p:cNvSpPr/>
          <p:nvPr/>
        </p:nvSpPr>
        <p:spPr>
          <a:xfrm>
            <a:off x="1171575" y="2000250"/>
            <a:ext cx="3000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7F2E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Разделение общества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71575" y="2343150"/>
            <a:ext cx="3000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B3D4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Русское общество глубоко и надолго раскололось на сторонников новой официальной церкви (никониан) и приверженцев старой веры (старообрядцев).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86300" y="1714500"/>
            <a:ext cx="3571875" cy="1857375"/>
          </a:xfrm>
          <a:prstGeom prst="rect">
            <a:avLst/>
          </a:prstGeom>
          <a:solidFill>
            <a:srgbClr val="144240"/>
          </a:solidFill>
          <a:ln/>
        </p:spPr>
      </p:sp>
      <p:sp>
        <p:nvSpPr>
          <p:cNvPr id="8" name="Text 5"/>
          <p:cNvSpPr/>
          <p:nvPr/>
        </p:nvSpPr>
        <p:spPr>
          <a:xfrm>
            <a:off x="4972050" y="2000250"/>
            <a:ext cx="3000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200" b="1" dirty="0">
                <a:solidFill>
                  <a:srgbClr val="F7F2EA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Гонения и бегство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72050" y="2343150"/>
            <a:ext cx="3000375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B3D4D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Официальные власти преследовали старообрядцев. Они были вынуждены скрываться, бежав на окраины страны: в Сибирь, на Урал и за границу, спасая древнюю русскую культуру.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5825" y="3714750"/>
            <a:ext cx="1610916" cy="285750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" kern="0" dirty="0">
                <a:solidFill>
                  <a:srgbClr val="0F323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КУЛЬТУРНАЯ ТРАВМА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605808" y="3714750"/>
            <a:ext cx="1796653" cy="285750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" kern="0" dirty="0">
                <a:solidFill>
                  <a:srgbClr val="0F323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СОХРАНЕНИЕ ТРАДИЦИЙ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511528" y="3714750"/>
            <a:ext cx="1746647" cy="285750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" kern="0" dirty="0">
                <a:solidFill>
                  <a:srgbClr val="0F323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НАРОДНЫЕ ВОССТАНИЯ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5825" y="885825"/>
            <a:ext cx="73723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2350" b="1" spc="-1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Связанные достопримечательности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885825" y="1357313"/>
            <a:ext cx="73723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5556"/>
              </a:lnSpc>
              <a:buNone/>
            </a:pPr>
            <a:r>
              <a:rPr lang="en-US" sz="9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Исторические места, хранящие память о событиях церковного раскола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885825" y="1785938"/>
            <a:ext cx="2305031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8BA8A6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928813"/>
            <a:ext cx="2019281" cy="10715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3128963"/>
            <a:ext cx="2019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05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Новый Иерусалим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28700" y="3378994"/>
            <a:ext cx="201928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Воскресенский монастырь в Истре — главное архитектурное детище патриарха Никона.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419456" y="1785938"/>
            <a:ext cx="2305031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8BA8A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31" y="1928813"/>
            <a:ext cx="2019281" cy="10715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2331" y="3128963"/>
            <a:ext cx="2019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05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Аввакум в Григорове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562331" y="3378994"/>
            <a:ext cx="201928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Памятник в селе Григорово Нижегородской области — на родине протопопа.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5953088" y="1785938"/>
            <a:ext cx="2305031" cy="2286000"/>
          </a:xfrm>
          <a:prstGeom prst="rect">
            <a:avLst/>
          </a:prstGeom>
          <a:solidFill>
            <a:srgbClr val="FFFFFF"/>
          </a:solidFill>
          <a:ln w="9144">
            <a:solidFill>
              <a:srgbClr val="8BA8A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63" y="1928813"/>
            <a:ext cx="2019281" cy="10715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95963" y="3128963"/>
            <a:ext cx="2019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05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Пустозерск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095963" y="3378994"/>
            <a:ext cx="201928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1814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Место ссылки и казни Аввакума, ныне историко-культурный памятник на Севере.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7400925" y="4314825"/>
            <a:ext cx="857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1575" y="1471613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Итоги и значения</a:t>
            </a: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
</a:t>
            </a:r>
            <a:r>
              <a:rPr lang="en-US" sz="3950" b="1" spc="-2" kern="0" dirty="0">
                <a:solidFill>
                  <a:srgbClr val="18140E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для России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1171575" y="2786063"/>
            <a:ext cx="5715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323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Церковный раскол стал первой крупной культурной катастрофой в русской истории, определившей духовные искания народа на века вперед.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72313" y="1285875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spc="1" kern="0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ЭПОХА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072313" y="1485900"/>
            <a:ext cx="1143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XVII век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072313" y="1971675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spc="1" kern="0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НАЧАЛО РЕФОРМ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072313" y="2171700"/>
            <a:ext cx="1143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1653 год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72313" y="2657475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700" b="1" spc="1" kern="0" dirty="0">
                <a:solidFill>
                  <a:srgbClr val="8BA8A6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КЛЮЧЕВЫЕ ЛИЦА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072313" y="2857500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Никон</a:t>
            </a: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1000" b="1" dirty="0">
                <a:solidFill>
                  <a:srgbClr val="18140E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Аввакум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5825" y="4314825"/>
            <a:ext cx="1428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spc="2" kern="0" dirty="0">
                <a:solidFill>
                  <a:srgbClr val="1442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ИСТОРИЯ РОССИИ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86500" y="4314825"/>
            <a:ext cx="2857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4424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2026-10-16T08:13:09Z</dcterms:created>
  <dcterms:modified xsi:type="dcterms:W3CDTF">2026-10-16T08:13:09Z</dcterms:modified>
</cp:coreProperties>
</file>